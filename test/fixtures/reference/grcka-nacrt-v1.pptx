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PONUDA / PROGRAM br. 08/2018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KLASIČNA GRČKA I ZAKYNTHOS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880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Maturalno putovanje · 9 dana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886200"/>
            <a:ext cx="5120640" cy="1417320"/>
          </a:xfrm>
          <a:prstGeom prst="rect">
            <a:avLst/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39776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NARUČITELJ</a:t>
            </a:r>
            <a:endParaRPr lang="en-US" sz="1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Gimnazija Vinkovci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spc="200" kern="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</a:t>
            </a:r>
            <a:endParaRPr lang="en-US" sz="10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20.08. – 01.09.2019.</a:t>
            </a:r>
            <a:endParaRPr lang="en-US" sz="1000" dirty="0"/>
          </a:p>
        </p:txBody>
      </p:sp>
      <p:pic>
        <p:nvPicPr>
          <p:cNvPr id="8" name="Image 0" descr="/tmp/claude-0/-home-claude/568574ba-5001-5e4f-9072-87f83325d6a0/scratchpad/in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897880"/>
            <a:ext cx="2286000" cy="5029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38328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PUTNIČKA AGENCIJA  ·  www.polet.hr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Putovanje ukratko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KLASIČNA GRČKA I ZAKYNTHOS  ·  20.08. – 01.09.2019.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putovanja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90824" y="16002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144" y="18745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65144" y="233172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3665144" y="28803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noćenja (1 brod + 6 hotel***)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33008" y="16002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18745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07328" y="233172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55+4</a:t>
            </a:r>
            <a:endParaRPr lang="en-US" sz="3400" dirty="0"/>
          </a:p>
        </p:txBody>
      </p:sp>
      <p:sp>
        <p:nvSpPr>
          <p:cNvPr id="15" name="Text 10"/>
          <p:cNvSpPr txBox="1"/>
          <p:nvPr/>
        </p:nvSpPr>
        <p:spPr>
          <a:xfrm>
            <a:off x="6507328" y="28803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učenika i nastavnika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075191" y="16002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511" y="18745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49511" y="233172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9" name="Text 13"/>
          <p:cNvSpPr txBox="1"/>
          <p:nvPr/>
        </p:nvSpPr>
        <p:spPr>
          <a:xfrm>
            <a:off x="9349511" y="28803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plovidbe – Jadran i Zakynthos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PUTOVANJA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31520" y="4572000"/>
            <a:ext cx="10728655" cy="0"/>
          </a:xfrm>
          <a:prstGeom prst="line">
            <a:avLst/>
          </a:prstGeom>
          <a:noFill/>
          <a:ln w="25400">
            <a:solidFill>
              <a:srgbClr val="E3E3E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9224" y="4489704"/>
            <a:ext cx="164592" cy="164592"/>
          </a:xfrm>
          <a:prstGeom prst="ellipse">
            <a:avLst/>
          </a:prstGeom>
          <a:solidFill>
            <a:srgbClr val="1C1C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-91440" y="4754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Vinkovci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2181889" y="4489704"/>
            <a:ext cx="164592" cy="164592"/>
          </a:xfrm>
          <a:prstGeom prst="ellipse">
            <a:avLst/>
          </a:prstGeom>
          <a:solidFill>
            <a:srgbClr val="C810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441225" y="4754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Venecija / Ancona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714554" y="4489704"/>
            <a:ext cx="164592" cy="164592"/>
          </a:xfrm>
          <a:prstGeom prst="ellipse">
            <a:avLst/>
          </a:prstGeom>
          <a:solidFill>
            <a:srgbClr val="C810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2973890" y="4754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Patras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247219" y="4489704"/>
            <a:ext cx="164592" cy="164592"/>
          </a:xfrm>
          <a:prstGeom prst="ellipse">
            <a:avLst/>
          </a:prstGeom>
          <a:solidFill>
            <a:srgbClr val="C810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506555" y="4754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Zakynthos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779884" y="4489704"/>
            <a:ext cx="164592" cy="164592"/>
          </a:xfrm>
          <a:prstGeom prst="ellipse">
            <a:avLst/>
          </a:prstGeom>
          <a:solidFill>
            <a:srgbClr val="C810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039220" y="4754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Atena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312549" y="4489704"/>
            <a:ext cx="164592" cy="164592"/>
          </a:xfrm>
          <a:prstGeom prst="ellipse">
            <a:avLst/>
          </a:prstGeom>
          <a:solidFill>
            <a:srgbClr val="C810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571885" y="4754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Delfi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9845214" y="4489704"/>
            <a:ext cx="164592" cy="164592"/>
          </a:xfrm>
          <a:prstGeom prst="ellipse">
            <a:avLst/>
          </a:prstGeom>
          <a:solidFill>
            <a:srgbClr val="C810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9104550" y="4754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Ohrid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11377879" y="4489704"/>
            <a:ext cx="164592" cy="164592"/>
          </a:xfrm>
          <a:prstGeom prst="ellipse">
            <a:avLst/>
          </a:prstGeom>
          <a:solidFill>
            <a:srgbClr val="1C1C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10637215" y="4754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Vinkovci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548640" y="54406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Prijevoz: turistički autobus + brod Venecija/Ancona – Patras + trajekt Kyllini – Zakynthos</a:t>
            </a:r>
            <a:endParaRPr lang="en-US" sz="1200" dirty="0"/>
          </a:p>
        </p:txBody>
      </p:sp>
      <p:pic>
        <p:nvPicPr>
          <p:cNvPr id="39" name="Image 4" descr="/tmp/claude-0/-home-claude/568574ba-5001-5e4f-9072-87f83325d6a0/scratchpad/in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291072"/>
            <a:ext cx="1243584" cy="27432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985455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www.polet.hr  ·  032 308 938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Polet Vinkovci?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Putnička agencija s dugogodišnjim iskustvom u organizaciji učeničkih putovanja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85800" cy="685800"/>
          </a:xfrm>
          <a:prstGeom prst="ellipse">
            <a:avLst/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819656"/>
            <a:ext cx="338328" cy="338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27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Vlastiti vozni park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99339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 turistički autobusi s klimom i besplatnim internetom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645920"/>
            <a:ext cx="685800" cy="685800"/>
          </a:xfrm>
          <a:prstGeom prst="ellipse">
            <a:avLst/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16" y="18196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40880" y="1627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Profesionalni vozači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040880" y="199339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Iskusni vozači i stručni pratitelji na cijelom putovanju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685800" cy="685800"/>
          </a:xfrm>
          <a:prstGeom prst="ellipse">
            <a:avLst/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28269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0906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putnika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34564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Osiguranje putnika i prtljage, osiguranje odgovornosti i jamčevina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26480" y="3108960"/>
            <a:ext cx="685800" cy="685800"/>
          </a:xfrm>
          <a:prstGeom prst="ellipse">
            <a:avLst/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16" y="328269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40880" y="30906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Certificirani specijalist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7040880" y="34564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UHPA certifikat za školska putovanja, Travelife i ISO 9001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709160"/>
            <a:ext cx="11094415" cy="1188720"/>
          </a:xfrm>
          <a:prstGeom prst="rect">
            <a:avLst/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pic>
        <p:nvPicPr>
          <p:cNvPr id="21" name="Image 4" descr="/tmp/claude-0/-home-claude/568574ba-5001-5e4f-9072-87f83325d6a0/scratchpad/in/cert_uhp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937760"/>
            <a:ext cx="2377440" cy="731520"/>
          </a:xfrm>
          <a:prstGeom prst="rect">
            <a:avLst/>
          </a:prstGeom>
        </p:spPr>
      </p:pic>
      <p:pic>
        <p:nvPicPr>
          <p:cNvPr id="22" name="Image 5" descr="/tmp/claude-0/-home-claude/568574ba-5001-5e4f-9072-87f83325d6a0/scratchpad/in/cert_travelif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983480"/>
            <a:ext cx="2834640" cy="640080"/>
          </a:xfrm>
          <a:prstGeom prst="rect">
            <a:avLst/>
          </a:prstGeom>
        </p:spPr>
      </p:pic>
      <p:pic>
        <p:nvPicPr>
          <p:cNvPr id="23" name="Image 6" descr="/tmp/claude-0/-home-claude/568574ba-5001-5e4f-9072-87f83325d6a0/scratchpad/in/cert_is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4846320"/>
            <a:ext cx="1645920" cy="914400"/>
          </a:xfrm>
          <a:prstGeom prst="rect">
            <a:avLst/>
          </a:prstGeom>
        </p:spPr>
      </p:pic>
      <p:pic>
        <p:nvPicPr>
          <p:cNvPr id="24" name="Image 7" descr="/tmp/claude-0/-home-claude/568574ba-5001-5e4f-9072-87f83325d6a0/scratchpad/in/log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291072"/>
            <a:ext cx="1243584" cy="27432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985455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www.polet.hr  ·  032 308 938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putovanja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 ·  KLASIČNA GRČKA I ZAKYNTHOS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480560"/>
          </a:xfrm>
          <a:prstGeom prst="roundRect">
            <a:avLst>
              <a:gd name="adj" fmla="val 2449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POLAZAK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81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Polazak autobusom ispred škole u kasnim večernjim satima.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4815688" cy="1463040"/>
          </a:xfrm>
          <a:prstGeom prst="roundRect">
            <a:avLst>
              <a:gd name="adj" fmla="val 6250"/>
            </a:avLst>
          </a:prstGeom>
          <a:solidFill>
            <a:srgbClr val="E9E9EC"/>
          </a:solidFill>
          <a:ln w="12700">
            <a:solidFill>
              <a:srgbClr val="D0D0D5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22960" y="4343400"/>
            <a:ext cx="481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FOTOGRAFIJA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1600200"/>
            <a:ext cx="5364328" cy="4480560"/>
          </a:xfrm>
          <a:prstGeom prst="roundRect">
            <a:avLst>
              <a:gd name="adj" fmla="val 2449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74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53048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423160"/>
            <a:ext cx="481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Vožnja autobusom kroz Hrvatsku, Sloveniju i Italiju do luke VENECIJA/ANCONA, uz mogućnost razgleda VENECIJE (ovisno o redu plovidbe): Trg i crkva sv. Marka, Duždeva palača, most Rialto, Kanal Grande, zvonik, toranj sa satom. Odlazak do putničke luke i ukrcaj na brod. Smještaj u četverokrevetnim unutarnjim kabinama. Plovidba Jadranom prema Grčkoj uz sve pogodnosti broda: restorani, caffe barovi, bazen, disko. Noćenje.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53048" y="4343400"/>
            <a:ext cx="4815688" cy="1463040"/>
          </a:xfrm>
          <a:prstGeom prst="roundRect">
            <a:avLst>
              <a:gd name="adj" fmla="val 6250"/>
            </a:avLst>
          </a:prstGeom>
          <a:solidFill>
            <a:srgbClr val="E9E9EC"/>
          </a:solidFill>
          <a:ln w="12700">
            <a:solidFill>
              <a:srgbClr val="D0D0D5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553048" y="4343400"/>
            <a:ext cx="481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FOTOGRAFIJA</a:t>
            </a:r>
            <a:endParaRPr lang="en-US" sz="1100" dirty="0"/>
          </a:p>
        </p:txBody>
      </p:sp>
      <p:pic>
        <p:nvPicPr>
          <p:cNvPr id="16" name="Image 0" descr="/tmp/claude-0/-home-claude/568574ba-5001-5e4f-9072-87f83325d6a0/scratchpad/in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91072"/>
            <a:ext cx="1243584" cy="274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985455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www.polet.hr  ·  032 308 938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putovanja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  ·  KLASIČNA GRČKA I ZAKYNTHOS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480560"/>
          </a:xfrm>
          <a:prstGeom prst="roundRect">
            <a:avLst>
              <a:gd name="adj" fmla="val 2449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81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Doručak. Plovidba Jadranskim morem, slobodno vrijeme za osobne programe. Uplovljavanje u luku PATRAS i nastavak autobusom do hotela u Patrasu. Smještaj u hotel. Večera. Večernji izlazak u dogovoru s grupom. Noćenje.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4815688" cy="1463040"/>
          </a:xfrm>
          <a:prstGeom prst="roundRect">
            <a:avLst>
              <a:gd name="adj" fmla="val 6250"/>
            </a:avLst>
          </a:prstGeom>
          <a:solidFill>
            <a:srgbClr val="E9E9EC"/>
          </a:solidFill>
          <a:ln w="12700">
            <a:solidFill>
              <a:srgbClr val="D0D0D5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22960" y="4343400"/>
            <a:ext cx="481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FOTOGRAFIJA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1600200"/>
            <a:ext cx="5364328" cy="4480560"/>
          </a:xfrm>
          <a:prstGeom prst="roundRect">
            <a:avLst>
              <a:gd name="adj" fmla="val 2449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74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53048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423160"/>
            <a:ext cx="481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Doručak. Vožnja Peloponezom do luke Kyllini i ukrcaj na trajekt. Dvosatna vožnja do ZAKYNTHOSA, rajskog otoka koji će vas odmah osvojiti. Vožnja do mjesta LAGANAS – najvećeg i najživahnijeg ljetovališta na otoku s dugom pješčanom plažom. Smještaj u hotel, slobodno vrijeme do večere. Večernja zabava, noćenje.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53048" y="4343400"/>
            <a:ext cx="4815688" cy="1463040"/>
          </a:xfrm>
          <a:prstGeom prst="roundRect">
            <a:avLst>
              <a:gd name="adj" fmla="val 6250"/>
            </a:avLst>
          </a:prstGeom>
          <a:solidFill>
            <a:srgbClr val="E9E9EC"/>
          </a:solidFill>
          <a:ln w="12700">
            <a:solidFill>
              <a:srgbClr val="D0D0D5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553048" y="4343400"/>
            <a:ext cx="481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FOTOGRAFIJA</a:t>
            </a:r>
            <a:endParaRPr lang="en-US" sz="1100" dirty="0"/>
          </a:p>
        </p:txBody>
      </p:sp>
      <p:pic>
        <p:nvPicPr>
          <p:cNvPr id="16" name="Image 0" descr="/tmp/claude-0/-home-claude/568574ba-5001-5e4f-9072-87f83325d6a0/scratchpad/in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91072"/>
            <a:ext cx="1243584" cy="274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985455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www.polet.hr  ·  032 308 938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putovanja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  ·  KLASIČNA GRČKA I ZAKYNTHOS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480560"/>
          </a:xfrm>
          <a:prstGeom prst="roundRect">
            <a:avLst>
              <a:gd name="adj" fmla="val 2449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81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Doručak. Panoramska vožnja otokom do glavnog grada Zakynthosa: razgled PLATEIE, stare gradske jezgre, tržnice i katedrale sv. Dionizija – zaštitnika otoka. Slobodno vrijeme, povratak u Laganas, večera u hotelu. Navečer odlazak u jedan od mnogobrojnih noćnih klubova Laganasa! Noćenje.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4815688" cy="1463040"/>
          </a:xfrm>
          <a:prstGeom prst="roundRect">
            <a:avLst>
              <a:gd name="adj" fmla="val 6250"/>
            </a:avLst>
          </a:prstGeom>
          <a:solidFill>
            <a:srgbClr val="E9E9EC"/>
          </a:solidFill>
          <a:ln w="12700">
            <a:solidFill>
              <a:srgbClr val="D0D0D5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22960" y="4343400"/>
            <a:ext cx="481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FOTOGRAFIJA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1600200"/>
            <a:ext cx="5364328" cy="4480560"/>
          </a:xfrm>
          <a:prstGeom prst="roundRect">
            <a:avLst>
              <a:gd name="adj" fmla="val 2449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74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53048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423160"/>
            <a:ext cx="481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Nakon doručka izlet po otoku. Fakultativno predlažemo odlazak do luke VROMI uz zaustavljanje u VOLIMESU, ukrcaj na brodice i plovidbu do plaže NAVAGIO – slobodno vrijeme za kupanje. Povratak u Laganas, večera u hotelu. Zabava. Noćenje.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53048" y="4343400"/>
            <a:ext cx="4815688" cy="1463040"/>
          </a:xfrm>
          <a:prstGeom prst="roundRect">
            <a:avLst>
              <a:gd name="adj" fmla="val 6250"/>
            </a:avLst>
          </a:prstGeom>
          <a:solidFill>
            <a:srgbClr val="E9E9EC"/>
          </a:solidFill>
          <a:ln w="12700">
            <a:solidFill>
              <a:srgbClr val="D0D0D5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553048" y="4343400"/>
            <a:ext cx="481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FOTOGRAFIJA</a:t>
            </a:r>
            <a:endParaRPr lang="en-US" sz="1100" dirty="0"/>
          </a:p>
        </p:txBody>
      </p:sp>
      <p:pic>
        <p:nvPicPr>
          <p:cNvPr id="16" name="Image 0" descr="/tmp/claude-0/-home-claude/568574ba-5001-5e4f-9072-87f83325d6a0/scratchpad/in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91072"/>
            <a:ext cx="1243584" cy="274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985455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www.polet.hr  ·  032 308 938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putovanja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  ·  KLASIČNA GRČKA I ZAKYNTHOS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480560"/>
          </a:xfrm>
          <a:prstGeom prst="roundRect">
            <a:avLst>
              <a:gd name="adj" fmla="val 2449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81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Nakon doručka napuštanje Zakynthosa i vožnja brodom do luke KYLLINI. Nastavak prema ATENI uz razgled Peloponeza: KORINTSKI KANAL, EPIDAUR – svetište Asklepija, muzej i glasoviti TEATAR, najakustičnija građevina te vrste na svijetu. Dolazak u GLYFADU, predgrađe Atene bogato plažama, barovima i klubovima. Smještaj u hotel. Večera. Navečer izlet Atenskom rivijerom (Apolonova obala) do rta SOUNION i razgled POSEJDONOVA HRAMA. Noćenje.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4815688" cy="1463040"/>
          </a:xfrm>
          <a:prstGeom prst="roundRect">
            <a:avLst>
              <a:gd name="adj" fmla="val 6250"/>
            </a:avLst>
          </a:prstGeom>
          <a:solidFill>
            <a:srgbClr val="E9E9EC"/>
          </a:solidFill>
          <a:ln w="12700">
            <a:solidFill>
              <a:srgbClr val="D0D0D5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22960" y="4343400"/>
            <a:ext cx="481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FOTOGRAFIJA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1600200"/>
            <a:ext cx="5364328" cy="4480560"/>
          </a:xfrm>
          <a:prstGeom prst="roundRect">
            <a:avLst>
              <a:gd name="adj" fmla="val 2449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74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53048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DAN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423160"/>
            <a:ext cx="481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Doručak. Razgled ATENE s lokalnim vodičem: AKROPOLA, Zeusov hram, Hadrijanov slavoluk, Olimpijski stadion, trgovi Sintagma i Omonia, Parlament, posjet NACIONALNOM ARHEOLOŠKOM MUZEJU. Slobodno poslijepodne. Večera. Navečer odlazak s pratiteljem u četvrt PLAKA – moguća fakultativna grčka večera s folklornim programom. Noćenje.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53048" y="4343400"/>
            <a:ext cx="4815688" cy="1463040"/>
          </a:xfrm>
          <a:prstGeom prst="roundRect">
            <a:avLst>
              <a:gd name="adj" fmla="val 6250"/>
            </a:avLst>
          </a:prstGeom>
          <a:solidFill>
            <a:srgbClr val="E9E9EC"/>
          </a:solidFill>
          <a:ln w="12700">
            <a:solidFill>
              <a:srgbClr val="D0D0D5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553048" y="4343400"/>
            <a:ext cx="481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FOTOGRAFIJA</a:t>
            </a:r>
            <a:endParaRPr lang="en-US" sz="1100" dirty="0"/>
          </a:p>
        </p:txBody>
      </p:sp>
      <p:pic>
        <p:nvPicPr>
          <p:cNvPr id="16" name="Image 0" descr="/tmp/claude-0/-home-claude/568574ba-5001-5e4f-9072-87f83325d6a0/scratchpad/in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91072"/>
            <a:ext cx="1243584" cy="274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985455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www.polet.hr  ·  032 308 938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putovanja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·  KLASIČNA GRČKA I ZAKYNTHOS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480560"/>
          </a:xfrm>
          <a:prstGeom prst="roundRect">
            <a:avLst>
              <a:gd name="adj" fmla="val 2449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81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Doručak, odjava iz hotela. Odlazak do jednog od najpoznatijih arheoloških lokaliteta Grčke, proročišta DELFI: riznica Atenjana, Apolonov hram, kazalište, stadion. Nastavak prema Makedoniji uz posjet KALAMBACI, vožnja preko Bitole do OHRIDA. Dolazak u večernjim satima, smještaj u hotel, večera, odlazak u disco. Noćenje.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4815688" cy="1463040"/>
          </a:xfrm>
          <a:prstGeom prst="roundRect">
            <a:avLst>
              <a:gd name="adj" fmla="val 6250"/>
            </a:avLst>
          </a:prstGeom>
          <a:solidFill>
            <a:srgbClr val="E9E9EC"/>
          </a:solidFill>
          <a:ln w="12700">
            <a:solidFill>
              <a:srgbClr val="D0D0D5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22960" y="4343400"/>
            <a:ext cx="481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FOTOGRAFIJA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1600200"/>
            <a:ext cx="5364328" cy="4480560"/>
          </a:xfrm>
          <a:prstGeom prst="roundRect">
            <a:avLst>
              <a:gd name="adj" fmla="val 2449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874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53048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DAN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423160"/>
            <a:ext cx="481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Doručak, odjava iz hotela. Razgled OHRIDA s lokalnim vodičem. Odlazak do manastira SV. NAUM, slobodno vrijeme. Nastavak kroz nacionalni park Mavrovo, preko Skoplja i Kumanova do Bajakova uz usputno zaustavljanje za odmor. Dolazak u Vinkovce u kasnim večernjim satima.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53048" y="4343400"/>
            <a:ext cx="4815688" cy="1463040"/>
          </a:xfrm>
          <a:prstGeom prst="roundRect">
            <a:avLst>
              <a:gd name="adj" fmla="val 6250"/>
            </a:avLst>
          </a:prstGeom>
          <a:solidFill>
            <a:srgbClr val="E9E9EC"/>
          </a:solidFill>
          <a:ln w="12700">
            <a:solidFill>
              <a:srgbClr val="D0D0D5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553048" y="4343400"/>
            <a:ext cx="481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FOTOGRAFIJA</a:t>
            </a:r>
            <a:endParaRPr lang="en-US" sz="1100" dirty="0"/>
          </a:p>
        </p:txBody>
      </p:sp>
      <p:pic>
        <p:nvPicPr>
          <p:cNvPr id="16" name="Image 0" descr="/tmp/claude-0/-home-claude/568574ba-5001-5e4f-9072-87f83325d6a0/scratchpad/in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91072"/>
            <a:ext cx="1243584" cy="274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985455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www.polet.hr  ·  032 308 938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Cijena putovanja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CIJENA PO UČENIKU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___,__ €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učeniku, na bazi 55 učenika + 4 nastavnika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114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DOPLATE PREMA ŽELJI GRUPE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4805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izlet brodom na plažu Navagio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doručak na brodu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ručak / večera na brodu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600200"/>
            <a:ext cx="6888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CIJENA UKLJUČUJE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057400"/>
            <a:ext cx="146304" cy="14630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10912" y="2011680"/>
            <a:ext cx="3005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prijevoz udobnim turističkim autobusom prema programu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660904"/>
            <a:ext cx="146304" cy="14630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10912" y="2615184"/>
            <a:ext cx="3005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stručnog pratitelja na cijelom putovanju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044952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10912" y="2999232"/>
            <a:ext cx="3005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prijevoz brodom Venecija/Ancona – Patras, smještaj u 4-krevetnim kabinama (tuš, WC)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648456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010912" y="3602736"/>
            <a:ext cx="3005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hotel*** Ohrid – 1 polupansion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032504"/>
            <a:ext cx="146304" cy="14630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010912" y="3986784"/>
            <a:ext cx="3005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hotel*** Laganas – 3 polupansiona</a:t>
            </a:r>
            <a:endParaRPr lang="en-US" sz="11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416552"/>
            <a:ext cx="146304" cy="14630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010912" y="4370832"/>
            <a:ext cx="3005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hotel*** Glyfada – 2 polupansiona</a:t>
            </a:r>
            <a:endParaRPr lang="en-US" sz="11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800600"/>
            <a:ext cx="146304" cy="14630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010912" y="4754880"/>
            <a:ext cx="3005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ulaznice za muzeje i arheološke lokalitete u Grčkoj (Delfi, Akropola, Arheološki muzej Atena)</a:t>
            </a:r>
            <a:endParaRPr lang="en-US" sz="11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0408" y="2057400"/>
            <a:ext cx="146304" cy="146304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8546440" y="2011680"/>
            <a:ext cx="3005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ulaznicu u Sv. Naum i ulaznicu za disco u Ohridu</a:t>
            </a:r>
            <a:endParaRPr lang="en-US" sz="11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0408" y="2660904"/>
            <a:ext cx="146304" cy="146304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8546440" y="2615184"/>
            <a:ext cx="3005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lokalne vodiče u Ohridu i Ateni</a:t>
            </a:r>
            <a:endParaRPr lang="en-US" sz="11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0408" y="3044952"/>
            <a:ext cx="146304" cy="146304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8546440" y="2999232"/>
            <a:ext cx="3005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mjesta za vođe puta škole s pripadajućim troškovima</a:t>
            </a:r>
            <a:endParaRPr lang="en-US" sz="115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0408" y="3648456"/>
            <a:ext cx="146304" cy="146304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8546440" y="3602736"/>
            <a:ext cx="3005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gratis mjesta za učenike</a:t>
            </a:r>
            <a:endParaRPr lang="en-US" sz="115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0408" y="4032504"/>
            <a:ext cx="146304" cy="146304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8546440" y="3986784"/>
            <a:ext cx="3005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međunarodno zdravstveno osiguranje + osiguranje od nezgode</a:t>
            </a:r>
            <a:endParaRPr lang="en-US" sz="115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0408" y="4636008"/>
            <a:ext cx="146304" cy="146304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8546440" y="4590288"/>
            <a:ext cx="3005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troškove organizacije i rezervacije, osiguranje putnika i prtljage, osiguranje odgovornosti i jamčevinu (Croatia osiguranje d.d.)</a:t>
            </a:r>
            <a:endParaRPr lang="en-US" sz="1150" dirty="0"/>
          </a:p>
        </p:txBody>
      </p:sp>
      <p:pic>
        <p:nvPicPr>
          <p:cNvPr id="36" name="Image 13" descr="/tmp/claude-0/-home-claude/568574ba-5001-5e4f-9072-87f83325d6a0/scratchpad/in/logo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6291072"/>
            <a:ext cx="1243584" cy="274320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7985455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www.polet.hr  ·  032 308 938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Način plaćanja i pogodnosti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MOGUĆNOSTI PLAĆANJA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03520" cy="1325880"/>
          </a:xfrm>
          <a:prstGeom prst="roundRect">
            <a:avLst>
              <a:gd name="adj" fmla="val 8276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22402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Gotovinom, općom uplatnicom, internet bankarstvom ili uplatom na žiro račun organizatora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8072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više mjesečnih obroka do polaska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611880"/>
            <a:ext cx="5303520" cy="1325880"/>
          </a:xfrm>
          <a:prstGeom prst="roundRect">
            <a:avLst>
              <a:gd name="adj" fmla="val 8276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862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794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Karticama obročno do 6 rata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43616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ZABA Maestro / Mastercard, American, PBZ Maestro / Visa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160020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AGENCIJA ODOBRAVA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0" y="2103120"/>
            <a:ext cx="640080" cy="640080"/>
          </a:xfrm>
          <a:prstGeom prst="ellipse">
            <a:avLst/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2677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69480" y="2057400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gratis mjesta za učenike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7269480" y="2423160"/>
            <a:ext cx="4373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 odabiru škole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0" y="3429000"/>
            <a:ext cx="640080" cy="640080"/>
          </a:xfrm>
          <a:prstGeom prst="ellipse">
            <a:avLst/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359359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69480" y="3383280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mjesta za vođe puta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7269480" y="3749040"/>
            <a:ext cx="4373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pripadajućim troškovima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0" y="4754880"/>
            <a:ext cx="640080" cy="640080"/>
          </a:xfrm>
          <a:prstGeom prst="ellipse">
            <a:avLst/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919472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269480" y="4709160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Povrat uplaćenog novca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269480" y="5074920"/>
            <a:ext cx="4373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slučaju opravdanog razloga: bolest uz liječničku dokumentaciju, elementarna nepogoda, nesretan slučaj u obitelji</a:t>
            </a:r>
            <a:endParaRPr lang="en-US" sz="1200" dirty="0"/>
          </a:p>
        </p:txBody>
      </p:sp>
      <p:pic>
        <p:nvPicPr>
          <p:cNvPr id="25" name="Image 5" descr="/tmp/claude-0/-home-claude/568574ba-5001-5e4f-9072-87f83325d6a0/scratchpad/in/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291072"/>
            <a:ext cx="1243584" cy="2743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985455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www.polet.hr  ·  032 308 938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Napomene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627632"/>
            <a:ext cx="10500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 termin realizacije ovise o redu plovidbe brodara.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404872"/>
            <a:ext cx="10500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Izračun je rađen na osnovi 55 učenika s mogućnošću odstupanja za tri učenika.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182112"/>
            <a:ext cx="10500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Polet zadržava pravo izmjene redoslijeda obilazaka (ovisno o vremenskim uvjetima i radnom vremenu destinacija) i cijene u slučaju izmjene broja putnika.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959352"/>
            <a:ext cx="10500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Hrvatskim državljanima je za ovo putovanje potrebna važeća osobna iskaznica ili putovnica.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736592"/>
            <a:ext cx="10500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Važeći su Opći uvjeti i upute za učenička putovanja – www.polet.hr</a:t>
            </a:r>
            <a:endParaRPr lang="en-US" sz="1400" dirty="0"/>
          </a:p>
        </p:txBody>
      </p:sp>
      <p:pic>
        <p:nvPicPr>
          <p:cNvPr id="18" name="Image 0" descr="/tmp/claude-0/-home-claude/568574ba-5001-5e4f-9072-87f83325d6a0/scratchpad/in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91072"/>
            <a:ext cx="1243584" cy="2743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985455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www.polet.hr  ·  032 308 938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463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Hvala na pažnji!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423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Veselimo se zajedničkom putovanju.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56432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33832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Marija Bijelić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913632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38404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032 308 938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7083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42976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agencija@polet.hr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28032"/>
            <a:ext cx="237744" cy="2377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47548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www.polet.hr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28523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25880" y="52120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 kralja Tomislava 1, Vinkovci</a:t>
            </a:r>
            <a:endParaRPr lang="en-US" sz="1500" dirty="0"/>
          </a:p>
        </p:txBody>
      </p:sp>
      <p:pic>
        <p:nvPicPr>
          <p:cNvPr id="15" name="Image 5" descr="/tmp/claude-0/-home-claude/568574ba-5001-5e4f-9072-87f83325d6a0/scratchpad/in/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095" y="5806440"/>
            <a:ext cx="2743200" cy="603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2026-09-27T15:30:02Z</dcterms:created>
  <dcterms:modified xsi:type="dcterms:W3CDTF">2026-09-27T15:30:02Z</dcterms:modified>
</cp:coreProperties>
</file>