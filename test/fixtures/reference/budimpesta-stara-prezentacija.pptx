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42916468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30051189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90149301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44831935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59545224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5602582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00053527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26493287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06955045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86888718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2526004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38861922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2705037"/>
      </p:ext>
    </p:extLst>
  </p:cSld>
  <p:clrMapOvr>
    <a:masterClrMapping/>
  </p:clrMapOvr>
  <p:transition spd="slow"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64833105"/>
      </p:ext>
    </p:extLst>
  </p:cSld>
  <p:clrMapOvr>
    <a:masterClrMapping/>
  </p:clrMapOvr>
  <p:transition spd="slow"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4805802"/>
      </p:ext>
    </p:extLst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71450439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AADF3-D07A-4F62-A4D4-6EE7B14194A2}" type="datetimeFigureOut">
              <a:rPr lang="hr-HR" smtClean="0"/>
              <a:t>31.12.2018.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6D5C948-9097-4EF2-B0EB-53F5C850F97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8663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 spd="slow">
    <p:cover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018" y="1275816"/>
            <a:ext cx="8437033" cy="3179568"/>
          </a:xfrm>
        </p:spPr>
        <p:txBody>
          <a:bodyPr/>
          <a:lstStyle/>
          <a:p>
            <a:pPr algn="ctr"/>
            <a:r>
              <a:rPr lang="hr-HR" sz="3600" dirty="0"/>
              <a:t>BUDIMPEŠTA</a:t>
            </a:r>
            <a:r>
              <a:rPr lang="hr-HR" sz="3200" dirty="0"/>
              <a:t> </a:t>
            </a:r>
            <a:br>
              <a:rPr lang="hr-HR" sz="3200" dirty="0"/>
            </a:br>
            <a:r>
              <a:rPr lang="hr-HR" sz="2800" dirty="0"/>
              <a:t>13.04. – 14.04.2019.</a:t>
            </a:r>
            <a:br>
              <a:rPr lang="hr-HR" sz="2800" dirty="0"/>
            </a:br>
            <a:br>
              <a:rPr lang="hr-HR" sz="3200" dirty="0"/>
            </a:br>
            <a:r>
              <a:rPr lang="hr-HR" sz="3200" dirty="0"/>
              <a:t>Gimnazija Matija Antun Reljković,VINKOVCI</a:t>
            </a:r>
            <a:br>
              <a:rPr lang="hr-HR" sz="3200" dirty="0"/>
            </a:br>
            <a:r>
              <a:rPr lang="hr-HR" sz="3200" dirty="0"/>
              <a:t>       program/ponuda 08/2018.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10" y="6116128"/>
            <a:ext cx="5071325" cy="6041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2687" y="6233551"/>
            <a:ext cx="1820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www.polet.hr</a:t>
            </a:r>
          </a:p>
        </p:txBody>
      </p:sp>
    </p:spTree>
    <p:extLst>
      <p:ext uri="{BB962C8B-B14F-4D97-AF65-F5344CB8AC3E}">
        <p14:creationId xmlns:p14="http://schemas.microsoft.com/office/powerpoint/2010/main" val="215336229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165" y="1567962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hr-HR" sz="4800" b="1" dirty="0"/>
              <a:t>PUTNIČKA AGENCIJA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709" y="3389700"/>
            <a:ext cx="3451898" cy="10569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41" y="6098869"/>
            <a:ext cx="5072312" cy="6035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744" y="3430445"/>
            <a:ext cx="3149360" cy="10569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9187" y="3430445"/>
            <a:ext cx="1743977" cy="9754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6497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2869"/>
          </a:xfrm>
        </p:spPr>
        <p:txBody>
          <a:bodyPr/>
          <a:lstStyle/>
          <a:p>
            <a:r>
              <a:rPr lang="hr-HR" dirty="0"/>
              <a:t>1.Dan-13.4.2019.-subota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18752"/>
            <a:ext cx="8596668" cy="2270734"/>
          </a:xfrm>
        </p:spPr>
        <p:txBody>
          <a:bodyPr/>
          <a:lstStyle/>
          <a:p>
            <a:r>
              <a:rPr lang="hr-HR" dirty="0"/>
              <a:t>Polazak iz Vinkovaca s dogovorenog mjesta u 06:00 sati. </a:t>
            </a:r>
          </a:p>
          <a:p>
            <a:r>
              <a:rPr lang="hr-HR" dirty="0"/>
              <a:t>Vožnja prema BUDIMPEŠTI. Po dolasku razgledavanje Pešte autobusom i pješice: PARLAMENT, OPERA, CRKVA SV. STJEPANA, AVENIJA ANDRASSY, TRG HEROJA SA MILENIJSKIM SPOMENIKOM. Šetnja najpoznatijom ulicom u Budimpešti VACI ULICOM koja obiluje trgovinama i kafićima. Na kraju ulice je trg Vorosmarty na kojem se nalazi čuvena slastičarna Gerbeaud s ukusnim kolačima. </a:t>
            </a:r>
          </a:p>
          <a:p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781" y="3848111"/>
            <a:ext cx="3129525" cy="15416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356" y="3848111"/>
            <a:ext cx="3226313" cy="15416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44" y="6160568"/>
            <a:ext cx="5072312" cy="6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5900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r-HR" sz="2400" dirty="0">
                <a:solidFill>
                  <a:schemeClr val="tx1"/>
                </a:solidFill>
              </a:rPr>
              <a:t>Smještaj u HOTELU DRIVE INN*** - smještaj u dvokrevetnim i trokrevetnim sobama, WiFi, doručak – švedski stol, večera. Večernji izlazak u dogovoru s grupom. Noćenje.</a:t>
            </a:r>
            <a:br>
              <a:rPr lang="hr-HR" sz="2400" dirty="0">
                <a:solidFill>
                  <a:schemeClr val="tx1"/>
                </a:solidFill>
              </a:rPr>
            </a:br>
            <a:endParaRPr lang="hr-HR" sz="2400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213" y="2304627"/>
            <a:ext cx="1987468" cy="29872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230" y="2304627"/>
            <a:ext cx="2688569" cy="17862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229" y="4465136"/>
            <a:ext cx="2688569" cy="15127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21" y="6125399"/>
            <a:ext cx="5078408" cy="6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07743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2.dan-14.04.2019.-nedjelja</a:t>
            </a:r>
            <a:br>
              <a:rPr lang="hr-HR" dirty="0"/>
            </a:b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01166"/>
            <a:ext cx="8596668" cy="2587257"/>
          </a:xfrm>
        </p:spPr>
        <p:txBody>
          <a:bodyPr/>
          <a:lstStyle/>
          <a:p>
            <a:r>
              <a:rPr lang="hr-HR" dirty="0"/>
              <a:t>Doručak. Napuštanje hotela i vožnja do BUDIMA.</a:t>
            </a:r>
          </a:p>
          <a:p>
            <a:r>
              <a:rPr lang="hr-HR" dirty="0"/>
              <a:t> Šetnja i obilazak: KRALJEVSKA PALAČA, CRKVA KRALJA MATIJE KORVINA i RIBARSKA UTVRDA. Slobodno vrijeme za kavu i kolač. </a:t>
            </a:r>
          </a:p>
          <a:p>
            <a:r>
              <a:rPr lang="hr-HR" dirty="0"/>
              <a:t>Odlazak do brda GELLERT, gdje se nalazi CITADELA, budimska utvrda s koje se pruža jedan od najljepših pogleda na grad.</a:t>
            </a:r>
          </a:p>
          <a:p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817" y="3669609"/>
            <a:ext cx="3297857" cy="17112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376" y="3669608"/>
            <a:ext cx="3115326" cy="17112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6055061"/>
            <a:ext cx="5078408" cy="6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5577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938" y="832122"/>
            <a:ext cx="8596668" cy="2230256"/>
          </a:xfrm>
        </p:spPr>
        <p:txBody>
          <a:bodyPr/>
          <a:lstStyle/>
          <a:p>
            <a:r>
              <a:rPr lang="hr-HR" dirty="0"/>
              <a:t>Polazak iz Budimpešte uz zaustavljanje u TROPICARIUM. </a:t>
            </a:r>
          </a:p>
          <a:p>
            <a:r>
              <a:rPr lang="hr-HR" dirty="0"/>
              <a:t>Obilazak najvećeg morskog akvarija srednje Europe s tisućama obojenih riba, životinja koje žive u tropskim prašumama, morskih pasa. </a:t>
            </a:r>
          </a:p>
          <a:p>
            <a:r>
              <a:rPr lang="hr-HR" dirty="0"/>
              <a:t>Slobodno vrijeme za obilazak shopping centra. </a:t>
            </a:r>
          </a:p>
          <a:p>
            <a:r>
              <a:rPr lang="hr-HR" dirty="0"/>
              <a:t>Nastavak vožnje prema Hrvatskoj, povratak u Vinkovce u večernjim satima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757" y="3288594"/>
            <a:ext cx="3119266" cy="18633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935" y="3445988"/>
            <a:ext cx="2737341" cy="15485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38" y="3445988"/>
            <a:ext cx="2804403" cy="15485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38" y="6077455"/>
            <a:ext cx="5078408" cy="6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71512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715097"/>
              </p:ext>
            </p:extLst>
          </p:nvPr>
        </p:nvGraphicFramePr>
        <p:xfrm>
          <a:off x="589719" y="676845"/>
          <a:ext cx="8065234" cy="3856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704">
                <a:tc>
                  <a:txBody>
                    <a:bodyPr/>
                    <a:lstStyle/>
                    <a:p>
                      <a:r>
                        <a:rPr lang="hr-HR" dirty="0"/>
                        <a:t>CIJENA</a:t>
                      </a:r>
                      <a:r>
                        <a:rPr lang="hr-HR" baseline="0" dirty="0"/>
                        <a:t> UKLJUČUJE: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CIJENA NE UKLJUČUJE: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814">
                <a:tc>
                  <a:txBody>
                    <a:bodyPr/>
                    <a:lstStyle/>
                    <a:p>
                      <a:r>
                        <a:rPr lang="hr-HR" dirty="0"/>
                        <a:t>-prijevoz turističkim autobusom prema programu-stručnog vodića,te</a:t>
                      </a:r>
                      <a:r>
                        <a:rPr lang="hr-HR" baseline="0" dirty="0"/>
                        <a:t> pratitelje putovanja(3 profesora)</a:t>
                      </a:r>
                      <a:endParaRPr lang="hr-HR" dirty="0"/>
                    </a:p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-</a:t>
                      </a:r>
                      <a:r>
                        <a:rPr lang="pl-PL" dirty="0"/>
                        <a:t>ulaznice za muzeje i kulturno – povijesne spomenike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186">
                <a:tc>
                  <a:txBody>
                    <a:bodyPr/>
                    <a:lstStyle/>
                    <a:p>
                      <a:r>
                        <a:rPr lang="hr-HR" dirty="0"/>
                        <a:t>-ulaznicu u Tropicarium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-karte za javni prijevoz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186">
                <a:tc>
                  <a:txBody>
                    <a:bodyPr/>
                    <a:lstStyle/>
                    <a:p>
                      <a:r>
                        <a:rPr lang="hr-HR" dirty="0"/>
                        <a:t>-3 gratis mjesta</a:t>
                      </a:r>
                      <a:r>
                        <a:rPr lang="hr-HR" baseline="0" dirty="0"/>
                        <a:t> za učenike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-vožnju brodom po Dunavu – cca. 60kn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9857">
                <a:tc>
                  <a:txBody>
                    <a:bodyPr/>
                    <a:lstStyle/>
                    <a:p>
                      <a:r>
                        <a:rPr lang="hr-HR" dirty="0"/>
                        <a:t>-1 polupansion u hotelu DRIVE INN***    ili SWING*** u Budimpešti</a:t>
                      </a:r>
                    </a:p>
                    <a:p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9719" y="4779034"/>
            <a:ext cx="8065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800" b="1" i="1" dirty="0">
                <a:solidFill>
                  <a:schemeClr val="accent2">
                    <a:lumMod val="75000"/>
                  </a:schemeClr>
                </a:solidFill>
              </a:rPr>
              <a:t>CIJENA OVOG PUTOVANJA JE 545Kn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19" y="6129215"/>
            <a:ext cx="5078408" cy="6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512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0242"/>
          </a:xfrm>
        </p:spPr>
        <p:txBody>
          <a:bodyPr/>
          <a:lstStyle/>
          <a:p>
            <a:r>
              <a:rPr lang="hr-HR" dirty="0"/>
              <a:t>NAČIN PLAČANJA: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17125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hr-HR" sz="2000" i="1" dirty="0"/>
              <a:t>Plaćanje u više mjesečnih obroka do polaska:</a:t>
            </a:r>
          </a:p>
          <a:p>
            <a:r>
              <a:rPr lang="hr-HR" dirty="0"/>
              <a:t>gotovina</a:t>
            </a:r>
          </a:p>
          <a:p>
            <a:r>
              <a:rPr lang="hr-HR" dirty="0"/>
              <a:t>internet bankarstvo</a:t>
            </a:r>
          </a:p>
          <a:p>
            <a:r>
              <a:rPr lang="hr-HR" dirty="0"/>
              <a:t>žiro račun</a:t>
            </a:r>
          </a:p>
          <a:p>
            <a:r>
              <a:rPr lang="hr-HR" dirty="0"/>
              <a:t>opća uplatnica</a:t>
            </a:r>
          </a:p>
          <a:p>
            <a:endParaRPr lang="hr-HR" dirty="0"/>
          </a:p>
          <a:p>
            <a:pPr marL="0" indent="0">
              <a:buNone/>
            </a:pPr>
            <a:r>
              <a:rPr lang="hr-HR" sz="2000" i="1" dirty="0"/>
              <a:t>Obročno do 6 rata:</a:t>
            </a:r>
          </a:p>
          <a:p>
            <a:r>
              <a:rPr lang="hr-HR" dirty="0"/>
              <a:t>ZABA:Maestro, Mastercard</a:t>
            </a:r>
          </a:p>
          <a:p>
            <a:r>
              <a:rPr lang="hr-HR" dirty="0"/>
              <a:t>PBZ: Visa, Maestro i American</a:t>
            </a:r>
          </a:p>
          <a:p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6042951"/>
            <a:ext cx="5078408" cy="6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702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735240"/>
            <a:ext cx="8596668" cy="770626"/>
          </a:xfrm>
        </p:spPr>
        <p:txBody>
          <a:bodyPr/>
          <a:lstStyle/>
          <a:p>
            <a:r>
              <a:rPr lang="hr-HR" dirty="0"/>
              <a:t>AGENCIJA ODOBRAVA: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43336"/>
            <a:ext cx="8596668" cy="2489049"/>
          </a:xfrm>
        </p:spPr>
        <p:txBody>
          <a:bodyPr/>
          <a:lstStyle/>
          <a:p>
            <a:r>
              <a:rPr lang="hr-HR" sz="2000" i="1" dirty="0"/>
              <a:t>povrat uplaćenog novca u slučaju opravdanog razloga odustajanja:</a:t>
            </a:r>
            <a:endParaRPr lang="hr-HR" i="1" dirty="0"/>
          </a:p>
          <a:p>
            <a:pPr marL="0" indent="0">
              <a:buNone/>
            </a:pPr>
            <a:r>
              <a:rPr lang="hr-HR" dirty="0"/>
              <a:t>    bolest dokumentirana liječničkom dokumentacijom </a:t>
            </a:r>
          </a:p>
          <a:p>
            <a:pPr marL="0" indent="0">
              <a:buNone/>
            </a:pPr>
            <a:r>
              <a:rPr lang="hr-HR" dirty="0"/>
              <a:t>    elementarna nepogoda</a:t>
            </a:r>
          </a:p>
          <a:p>
            <a:pPr marL="0" indent="0">
              <a:buNone/>
            </a:pPr>
            <a:r>
              <a:rPr lang="hr-HR" dirty="0"/>
              <a:t>    nesretan slučaj u obitelji</a:t>
            </a:r>
          </a:p>
          <a:p>
            <a:pPr marL="0" indent="0">
              <a:buNone/>
            </a:pPr>
            <a:endParaRPr lang="hr-H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5907325"/>
            <a:ext cx="5078408" cy="6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4552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4707" y="2032959"/>
            <a:ext cx="5136870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hr-HR" sz="4900" dirty="0"/>
              <a:t>HVALA NA PAŽNJI!</a:t>
            </a:r>
            <a:br>
              <a:rPr lang="hr-HR" sz="4900" dirty="0"/>
            </a:br>
            <a:br>
              <a:rPr lang="hr-HR" sz="4900" dirty="0"/>
            </a:br>
            <a:br>
              <a:rPr lang="hr-HR" sz="4000" dirty="0"/>
            </a:br>
            <a:r>
              <a:rPr lang="hr-HR" sz="4000" i="1" dirty="0"/>
              <a:t>VAŠ POLET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20" y="6008445"/>
            <a:ext cx="5078408" cy="6035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24227" y="6242669"/>
            <a:ext cx="181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www.polet.hr</a:t>
            </a:r>
          </a:p>
        </p:txBody>
      </p:sp>
    </p:spTree>
    <p:extLst>
      <p:ext uri="{BB962C8B-B14F-4D97-AF65-F5344CB8AC3E}">
        <p14:creationId xmlns:p14="http://schemas.microsoft.com/office/powerpoint/2010/main" val="198942353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Custom 3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0000"/>
      </a:accent2>
      <a:accent3>
        <a:srgbClr val="FF6566"/>
      </a:accent3>
      <a:accent4>
        <a:srgbClr val="FF8427"/>
      </a:accent4>
      <a:accent5>
        <a:srgbClr val="CC9900"/>
      </a:accent5>
      <a:accent6>
        <a:srgbClr val="C000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</TotalTime>
  <Words>364</Words>
  <Application>Microsoft Office PowerPoint</Application>
  <PresentationFormat>Široki zaslon</PresentationFormat>
  <Paragraphs>42</Paragraphs>
  <Slides>10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BUDIMPEŠTA  13.04. – 14.04.2019.  Gimnazija Matija Antun Reljković,VINKOVCI        program/ponuda 08/2018.</vt:lpstr>
      <vt:lpstr>PUTNIČKA AGENCIJA </vt:lpstr>
      <vt:lpstr>1.Dan-13.4.2019.-subota</vt:lpstr>
      <vt:lpstr>Smještaj u HOTELU DRIVE INN*** - smještaj u dvokrevetnim i trokrevetnim sobama, WiFi, doručak – švedski stol, večera. Večernji izlazak u dogovoru s grupom. Noćenje. </vt:lpstr>
      <vt:lpstr>2.dan-14.04.2019.-nedjelja </vt:lpstr>
      <vt:lpstr>PowerPoint prezentacija</vt:lpstr>
      <vt:lpstr>PowerPoint prezentacija</vt:lpstr>
      <vt:lpstr>NAČIN PLAČANJA:</vt:lpstr>
      <vt:lpstr>AGENCIJA ODOBRAVA:</vt:lpstr>
      <vt:lpstr>HVALA NA PAŽNJI!   VAŠ POLET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BUDIMPEŠTA  13.04. – 14.04.2019.  Gimnazija Matija Antun Reljković,VINKOVCI        program/ponuda 08/2018</dc:title>
  <dc:creator>Hrvoje Petricevic</dc:creator>
  <cp:lastModifiedBy>HrvojeP</cp:lastModifiedBy>
  <cp:revision>7</cp:revision>
  <dcterms:created xsi:type="dcterms:W3CDTF">2018-12-29T18:57:38Z</dcterms:created>
  <dcterms:modified xsi:type="dcterms:W3CDTF">2018-12-31T07:11:21Z</dcterms:modified>
</cp:coreProperties>
</file>